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"/>
            <a:ext cx="4572000" cy="73152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B8EC"/>
                </a:solidFill>
                <a:latin typeface="Arial"/>
              </a:rPr>
              <a:t>Skintyee First 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Community Mobile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C6A37"/>
                </a:solidFill>
                <a:latin typeface="Arial"/>
              </a:rPr>
              <a:t>Proposal &amp; Proof-of-Concept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548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DC1C6"/>
                </a:solidFill>
                <a:latin typeface="Arial"/>
              </a:rPr>
              <a:t>React Native · Azure · One app for Public, Members, and Band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DC1C6"/>
                </a:solidFill>
                <a:latin typeface="Arial"/>
              </a:rPr>
              <a:t>Prepared by Blue Collar Dev  ·  3-month engagement  ·  May–August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One app, three audiences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Goal:  </a:t>
            </a:r>
            <a:r>
              <a:rPr sz="1700">
                <a:solidFill>
                  <a:srgbClr val="BDC1C6"/>
                </a:solidFill>
                <a:latin typeface="Arial"/>
              </a:rPr>
              <a:t>a single mobile + web app for the Skintyee First Nation community.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Public:  </a:t>
            </a:r>
            <a:r>
              <a:rPr sz="1700">
                <a:solidFill>
                  <a:srgbClr val="BDC1C6"/>
                </a:solidFill>
                <a:latin typeface="Arial"/>
              </a:rPr>
              <a:t>community events and public records, open to anyone.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Band Members:  </a:t>
            </a:r>
            <a:r>
              <a:rPr sz="1700">
                <a:solidFill>
                  <a:srgbClr val="BDC1C6"/>
                </a:solidFill>
                <a:latin typeface="Arial"/>
              </a:rPr>
              <a:t>directory, band meetings, polling &amp; voting on issues.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Admins / Staff:  </a:t>
            </a:r>
            <a:r>
              <a:rPr sz="1700">
                <a:solidFill>
                  <a:srgbClr val="BDC1C6"/>
                </a:solidFill>
                <a:latin typeface="Arial"/>
              </a:rPr>
              <a:t>time keeping and financial records, admin-only.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Built on Azure:  </a:t>
            </a:r>
            <a:r>
              <a:rPr sz="1700">
                <a:solidFill>
                  <a:srgbClr val="BDC1C6"/>
                </a:solidFill>
                <a:latin typeface="Arial"/>
              </a:rPr>
              <a:t>identity, storage, and database all in Microsoft Azure.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Familiar feel:  </a:t>
            </a:r>
            <a:r>
              <a:rPr sz="1700">
                <a:solidFill>
                  <a:srgbClr val="BDC1C6"/>
                </a:solidFill>
                <a:latin typeface="Arial"/>
              </a:rPr>
              <a:t>reuses our proven React Native app stack and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828800"/>
            <a:ext cx="4114800" cy="420624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1828800"/>
            <a:ext cx="73152" cy="420624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993392"/>
            <a:ext cx="3749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487168"/>
            <a:ext cx="374904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The current presence is on Site123. This app gives the Nation a modern, self-owned platform — role-based access, real-time community engagement, and auditable records — fully under Azure with easy backups.
As an NGO, the priority is reliability and auditability over cost.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What the app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97480" cy="1481328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73152" cy="1481328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4767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41448"/>
            <a:ext cx="23317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Community stats + spending charts at a glance.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2152" y="1783080"/>
            <a:ext cx="2697480" cy="1481328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2152" y="1783080"/>
            <a:ext cx="73152" cy="1481328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0752" y="194767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Transparency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2441448"/>
            <a:ext cx="23317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Band expenditures by area; drill into how much &amp; where.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4224" y="1783080"/>
            <a:ext cx="2697480" cy="1481328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64224" y="1783080"/>
            <a:ext cx="73152" cy="1481328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94767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Band Member Directory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441448"/>
            <a:ext cx="23317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Searchable directory; contact details for members.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26296" y="1783080"/>
            <a:ext cx="2697480" cy="1481328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26296" y="1783080"/>
            <a:ext cx="73152" cy="1481328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54896" y="1947672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Community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54896" y="2441448"/>
            <a:ext cx="23317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Public event listings with details and dates.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447288"/>
            <a:ext cx="2697480" cy="1481328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447288"/>
            <a:ext cx="73152" cy="1481328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6118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Notifications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105656"/>
            <a:ext cx="23317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Health, Safety, Council… synced to skintyee.ca categories.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2152" y="3447288"/>
            <a:ext cx="2697480" cy="1481328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02152" y="3447288"/>
            <a:ext cx="73152" cy="1481328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0752" y="36118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Band Meetings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30752" y="4105656"/>
            <a:ext cx="23317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Agendas, schedules, and minutes for members.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64224" y="3447288"/>
            <a:ext cx="2697480" cy="1481328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64224" y="3447288"/>
            <a:ext cx="73152" cy="1481328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92824" y="36118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Time Keeping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92824" y="4105656"/>
            <a:ext cx="23317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Hours logging &amp; approval for workers (staff).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26296" y="3447288"/>
            <a:ext cx="2697480" cy="1481328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26296" y="3447288"/>
            <a:ext cx="73152" cy="1481328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54896" y="361188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Financial Records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54896" y="4105656"/>
            <a:ext cx="23317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Budgets and statements (admin only).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111496"/>
            <a:ext cx="2697480" cy="1481328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5111496"/>
            <a:ext cx="73152" cy="1481328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27608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Polling + Surveys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5769864"/>
            <a:ext cx="23317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Vote on issues; live results.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2152" y="5111496"/>
            <a:ext cx="2697480" cy="1481328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02152" y="5111496"/>
            <a:ext cx="73152" cy="1481328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30752" y="5276088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Auto-Publish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30752" y="5769864"/>
            <a:ext cx="2331720" cy="704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Meetings &amp; events pushed to skintyee.ca.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617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DC1C6"/>
                </a:solidFill>
                <a:latin typeface="Arial"/>
              </a:rPr>
              <a:t>Access is gated by role — Public / Member / Admin+Staff — per the architecture diagram.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Open books,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583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600" b="1">
                <a:solidFill>
                  <a:srgbClr val="00B8EC"/>
                </a:solidFill>
                <a:latin typeface="Arial"/>
              </a:rPr>
              <a:t>▸  </a:t>
            </a:r>
            <a:r>
              <a:rPr sz="1600" b="1">
                <a:solidFill>
                  <a:srgbClr val="FFFFFF"/>
                </a:solidFill>
                <a:latin typeface="Arial"/>
              </a:rPr>
              <a:t>Where the money goes:  </a:t>
            </a:r>
            <a:r>
              <a:rPr sz="1600">
                <a:solidFill>
                  <a:srgbClr val="BDC1C6"/>
                </a:solidFill>
                <a:latin typeface="Arial"/>
              </a:rPr>
              <a:t>public band expenditures by program area.</a:t>
            </a:r>
          </a:p>
          <a:p>
            <a:pPr>
              <a:lnSpc>
                <a:spcPct val="140000"/>
              </a:lnSpc>
            </a:pPr>
            <a:r>
              <a:rPr sz="1600" b="1">
                <a:solidFill>
                  <a:srgbClr val="00B8EC"/>
                </a:solidFill>
                <a:latin typeface="Arial"/>
              </a:rPr>
              <a:t>▸  </a:t>
            </a:r>
            <a:r>
              <a:rPr sz="1600" b="1">
                <a:solidFill>
                  <a:srgbClr val="FFFFFF"/>
                </a:solidFill>
                <a:latin typeface="Arial"/>
              </a:rPr>
              <a:t>Areas:  </a:t>
            </a:r>
            <a:r>
              <a:rPr sz="1600">
                <a:solidFill>
                  <a:srgbClr val="BDC1C6"/>
                </a:solidFill>
                <a:latin typeface="Arial"/>
              </a:rPr>
              <a:t>Housing, Public Works, Education, Employment, Health, Social</a:t>
            </a:r>
          </a:p>
          <a:p>
            <a:pPr>
              <a:lnSpc>
                <a:spcPct val="140000"/>
              </a:lnSpc>
            </a:pPr>
            <a:r>
              <a:rPr sz="1600" b="1">
                <a:solidFill>
                  <a:srgbClr val="00B8EC"/>
                </a:solidFill>
                <a:latin typeface="Arial"/>
              </a:rPr>
              <a:t>▸  </a:t>
            </a:r>
            <a:r>
              <a:rPr sz="1600">
                <a:solidFill>
                  <a:srgbClr val="BDC1C6"/>
                </a:solidFill>
                <a:latin typeface="Arial"/>
              </a:rPr>
              <a:t>Assistance, Child &amp; Family Services, IT, Administration.</a:t>
            </a:r>
          </a:p>
          <a:p>
            <a:pPr>
              <a:lnSpc>
                <a:spcPct val="140000"/>
              </a:lnSpc>
            </a:pPr>
            <a:r>
              <a:rPr sz="1600" b="1">
                <a:solidFill>
                  <a:srgbClr val="00B8EC"/>
                </a:solidFill>
                <a:latin typeface="Arial"/>
              </a:rPr>
              <a:t>▸  </a:t>
            </a:r>
            <a:r>
              <a:rPr sz="1600" b="1">
                <a:solidFill>
                  <a:srgbClr val="FFFFFF"/>
                </a:solidFill>
                <a:latin typeface="Arial"/>
              </a:rPr>
              <a:t>Drill down:  </a:t>
            </a:r>
            <a:r>
              <a:rPr sz="1600">
                <a:solidFill>
                  <a:srgbClr val="BDC1C6"/>
                </a:solidFill>
                <a:latin typeface="Arial"/>
              </a:rPr>
              <a:t>tap any area to see how much was spent and where.</a:t>
            </a:r>
          </a:p>
          <a:p>
            <a:pPr>
              <a:lnSpc>
                <a:spcPct val="140000"/>
              </a:lnSpc>
            </a:pPr>
            <a:r>
              <a:rPr sz="1600" b="1">
                <a:solidFill>
                  <a:srgbClr val="00B8EC"/>
                </a:solidFill>
                <a:latin typeface="Arial"/>
              </a:rPr>
              <a:t>▸  </a:t>
            </a:r>
            <a:r>
              <a:rPr sz="1600" b="1">
                <a:solidFill>
                  <a:srgbClr val="FFFFFF"/>
                </a:solidFill>
                <a:latin typeface="Arial"/>
              </a:rPr>
              <a:t>Dashboard:  </a:t>
            </a:r>
            <a:r>
              <a:rPr sz="1600">
                <a:solidFill>
                  <a:srgbClr val="BDC1C6"/>
                </a:solidFill>
                <a:latin typeface="Arial"/>
              </a:rPr>
              <a:t>community stats + spending charts at a glance.</a:t>
            </a:r>
          </a:p>
          <a:p>
            <a:pPr>
              <a:lnSpc>
                <a:spcPct val="140000"/>
              </a:lnSpc>
            </a:pPr>
            <a:r>
              <a:rPr sz="1600" b="1">
                <a:solidFill>
                  <a:srgbClr val="00B8EC"/>
                </a:solidFill>
                <a:latin typeface="Arial"/>
              </a:rPr>
              <a:t>▸  </a:t>
            </a:r>
            <a:r>
              <a:rPr sz="1600" b="1">
                <a:solidFill>
                  <a:srgbClr val="FFFFFF"/>
                </a:solidFill>
                <a:latin typeface="Arial"/>
              </a:rPr>
              <a:t>Sourced from:  </a:t>
            </a:r>
            <a:r>
              <a:rPr sz="1600">
                <a:solidFill>
                  <a:srgbClr val="BDC1C6"/>
                </a:solidFill>
                <a:latin typeface="Arial"/>
              </a:rPr>
              <a:t>Ferrus ASAP Suite + Adagio / Sage 300 (when integrated).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828800"/>
            <a:ext cx="4114800" cy="420624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1828800"/>
            <a:ext cx="73152" cy="4206240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993392"/>
            <a:ext cx="3749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487168"/>
            <a:ext cx="3749040" cy="342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Transparent band management builds trust. Members can see budgets vs. actual spending across housing, education, health and more — the same financial system staff already use, surfaced openly in the app.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Azure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182880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Skintyee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8716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React Native + Expo. iOS, Android, and web from one codebase. Material UI, role-based menus.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4256" y="182880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828800"/>
            <a:ext cx="73152" cy="182880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Microsoft Entra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248716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Identity &amp; sign-in (Azure AD). App roles map to Public / Member / Admin. Replaces AWS Cognito.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8431" y="182880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1" y="1828800"/>
            <a:ext cx="73152" cy="182880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Azure Blob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248716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Documents &amp; media. Durable, backed-up. Replaces AWS S3.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4048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840480"/>
            <a:ext cx="73152" cy="182880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00507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API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49884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App.SkinTyee.ca. Serves all app data; enforces role permissions.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4256" y="384048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4256" y="3840480"/>
            <a:ext cx="73152" cy="182880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2856" y="400507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Azure Cloud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2856" y="449884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Managed database — automated backups + point-in-time restore.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8431" y="3840480"/>
            <a:ext cx="352044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8431" y="3840480"/>
            <a:ext cx="73152" cy="1828800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57031" y="400507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Integrations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1" y="4498848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Ferrus ASAP + Adagio / Sage 300 (finances); skintyee.ca WordPress (news &amp; notification categories); auto-publish; push.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Azure-everywhere: matches the Nation's existing Microsoft footprint — Azure DNS, Outlook, Teams, Azure Storage.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Proof-of-concept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POC goal:  </a:t>
            </a:r>
            <a:r>
              <a:rPr sz="1700">
                <a:solidFill>
                  <a:srgbClr val="BDC1C6"/>
                </a:solidFill>
                <a:latin typeface="Arial"/>
              </a:rPr>
              <a:t>demonstrate the full experience and every role's menu — now.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Mock data:  </a:t>
            </a:r>
            <a:r>
              <a:rPr sz="1700">
                <a:solidFill>
                  <a:srgbClr val="BDC1C6"/>
                </a:solidFill>
                <a:latin typeface="Arial"/>
              </a:rPr>
              <a:t>all screens render realistic content behind a clean data seam.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Role switcher:  </a:t>
            </a:r>
            <a:r>
              <a:rPr sz="1700">
                <a:solidFill>
                  <a:srgbClr val="BDC1C6"/>
                </a:solidFill>
                <a:latin typeface="Arial"/>
              </a:rPr>
              <a:t>preview Public / Member / Admin instantly, no login needed.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 b="1">
                <a:solidFill>
                  <a:srgbClr val="FFFFFF"/>
                </a:solidFill>
                <a:latin typeface="Arial"/>
              </a:rPr>
              <a:t>Real services later:  </a:t>
            </a:r>
            <a:r>
              <a:rPr sz="1700">
                <a:solidFill>
                  <a:srgbClr val="BDC1C6"/>
                </a:solidFill>
                <a:latin typeface="Arial"/>
              </a:rPr>
              <a:t>swap mocks for the live API, Entra ID, and Azure Blob</a:t>
            </a:r>
          </a:p>
          <a:p>
            <a:pPr>
              <a:lnSpc>
                <a:spcPct val="150000"/>
              </a:lnSpc>
            </a:pPr>
            <a:r>
              <a:rPr sz="1700" b="1">
                <a:solidFill>
                  <a:srgbClr val="00B8EC"/>
                </a:solidFill>
                <a:latin typeface="Arial"/>
              </a:rPr>
              <a:t>▸  </a:t>
            </a:r>
            <a:r>
              <a:rPr sz="1700">
                <a:solidFill>
                  <a:srgbClr val="BDC1C6"/>
                </a:solidFill>
                <a:latin typeface="Arial"/>
              </a:rPr>
              <a:t>with no rework of the screens — they only depend on the data contract.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828800"/>
            <a:ext cx="4114800" cy="402336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79" y="1828800"/>
            <a:ext cx="73152" cy="4023360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1993392"/>
            <a:ext cx="3749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De-risked delivery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487168"/>
            <a:ext cx="374904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Decisions, look-and-feel, and scope are validated up front with a working demo — before investing in backend infrastructure. The POC IS the first phase of the build, not throwaway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3-month engagement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911535" cy="132588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91440" cy="132588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66544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Phase 1 ·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BDC1C6"/>
                </a:solidFill>
                <a:latin typeface="Arial"/>
              </a:rPr>
              <a:t>RN app, theme &amp; stack, all 7 features with role gating, mock data, demo-ready.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33172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00B8EC"/>
                </a:solidFill>
                <a:latin typeface="Arial"/>
              </a:rPr>
              <a:t>May – mid-June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132588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91440" cy="132588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75304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Phase 2 · Backend &amp;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8736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BDC1C6"/>
                </a:solidFill>
                <a:latin typeface="Arial"/>
              </a:rPr>
              <a:t>API Server + Azure Cloud DB live; Microsoft Entra ID sign-in; retire mocks.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84048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EC6A37"/>
                </a:solidFill>
                <a:latin typeface="Arial"/>
              </a:rPr>
              <a:t>mid-June – mid-July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37760"/>
            <a:ext cx="10911535" cy="132588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37760"/>
            <a:ext cx="91440" cy="1325880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84064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Phase 3 · Storage, Integrations &amp; Hardening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96128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BDC1C6"/>
                </a:solidFill>
                <a:latin typeface="Arial"/>
              </a:rPr>
              <a:t>Azure Blob Storage, push, auto-publish, branding, testing, native builds, UAT.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34924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9ECD3B"/>
                </a:solidFill>
                <a:latin typeface="Arial"/>
              </a:rPr>
              <a:t>mid-July – end Aug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4023360" cy="54864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Testing &amp;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520440" cy="192024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73152" cy="192024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Unit &amp;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87168"/>
            <a:ext cx="3154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Jest tests for the store, thunks, and mock API; React Native Testing Library for screens and role gating.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4256" y="1828800"/>
            <a:ext cx="3520440" cy="192024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4256" y="1828800"/>
            <a:ext cx="73152" cy="1920240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End-to-end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6" y="2487168"/>
            <a:ext cx="3154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Maestro / Detox for native flows; Cypress for web. Runs in Azure DevOps CI on every push.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8431" y="1828800"/>
            <a:ext cx="3520440" cy="192024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1" y="1828800"/>
            <a:ext cx="73152" cy="192024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1993392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UAT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2487168"/>
            <a:ext cx="3154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Band staff &amp; council validate every feature per role against a scripted checklist before release.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931920"/>
            <a:ext cx="539496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931920"/>
            <a:ext cx="73152" cy="1828800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09651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iOS — TestFlight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50292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EAS Build → TestFlight for internal &amp; external testers on their own devices. Promote to App Store after UAT.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63056" y="3931920"/>
            <a:ext cx="5394960" cy="1828800"/>
          </a:xfrm>
          <a:prstGeom prst="rect">
            <a:avLst/>
          </a:prstGeom>
          <a:solidFill>
            <a:srgbClr val="1D1D1D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3931920"/>
            <a:ext cx="73152" cy="1828800"/>
          </a:xfrm>
          <a:prstGeom prst="rect">
            <a:avLst/>
          </a:prstGeom>
          <a:solidFill>
            <a:srgbClr val="9EC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6" y="409651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Android — Google Play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1656" y="4590288"/>
            <a:ext cx="50292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DC1C6"/>
                </a:solidFill>
                <a:latin typeface="Arial"/>
              </a:rPr>
              <a:t>EAS Build → Google Play internal &amp; closed testing tracks. Promote to production after UAT.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"/>
            <a:ext cx="4572000" cy="73152"/>
          </a:xfrm>
          <a:prstGeom prst="rect">
            <a:avLst/>
          </a:prstGeom>
          <a:solidFill>
            <a:srgbClr val="EC6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 modern, self-owned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474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B8EC"/>
                </a:solidFill>
                <a:latin typeface="Arial"/>
              </a:rPr>
              <a:t>for the Skintyee First Nation community.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72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BDC1C6"/>
                </a:solidFill>
                <a:latin typeface="Arial"/>
              </a:rPr>
              <a:t>Working POC today · production-ready in three 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6A37"/>
                </a:solidFill>
                <a:latin typeface="Arial"/>
              </a:rPr>
              <a:t>Blue Collar Dev  ·  lucas@bluecollardev.com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